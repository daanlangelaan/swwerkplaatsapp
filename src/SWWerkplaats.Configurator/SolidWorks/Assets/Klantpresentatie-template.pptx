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76e945d9844cc" /><Relationship Type="http://schemas.openxmlformats.org/officeDocument/2006/relationships/extended-properties" Target="/docProps/app.xml" Id="R71dffc20b120491c" /><Relationship Type="http://schemas.openxmlformats.org/officeDocument/2006/relationships/officeDocument" Target="/ppt/presentation.xml" Id="Rcc16ce848b9f43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361c426c84205"/>
  </p:sldMasterIdLst>
  <p:notesMasterIdLst>
    <p:notesMasterId xmlns:r="http://schemas.openxmlformats.org/officeDocument/2006/relationships" r:id="Rd4ce5be6e647466f"/>
  </p:notesMasterIdLst>
  <p:sldIdLst>
    <p:sldId xmlns:r="http://schemas.openxmlformats.org/officeDocument/2006/relationships" id="256" r:id="Rffeba4bb6d80458f"/>
    <p:sldId xmlns:r="http://schemas.openxmlformats.org/officeDocument/2006/relationships" id="257" r:id="R65066902b37b460d"/>
    <p:sldId xmlns:r="http://schemas.openxmlformats.org/officeDocument/2006/relationships" id="258" r:id="Re54166e435d54d20"/>
    <p:sldId xmlns:r="http://schemas.openxmlformats.org/officeDocument/2006/relationships" id="259" r:id="R0c13410ded914b28"/>
    <p:sldId xmlns:r="http://schemas.openxmlformats.org/officeDocument/2006/relationships" id="260" r:id="R8a5659bc24e246ef"/>
    <p:sldId xmlns:r="http://schemas.openxmlformats.org/officeDocument/2006/relationships" id="261" r:id="R00da3f3de5f94f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4dd81633da4efc" /><Relationship Type="http://schemas.openxmlformats.org/officeDocument/2006/relationships/slideMaster" Target="/ppt/slideMasters/slideMaster1.xml" Id="R88f361c426c84205" /><Relationship Type="http://schemas.openxmlformats.org/officeDocument/2006/relationships/notesMaster" Target="/ppt/notesMasters/notesMaster1.xml" Id="Rd4ce5be6e647466f" /><Relationship Type="http://schemas.openxmlformats.org/officeDocument/2006/relationships/presProps" Target="/ppt/presProps.xml" Id="R7cf1c2e9bd0e4344" /><Relationship Type="http://schemas.openxmlformats.org/officeDocument/2006/relationships/tableStyles" Target="/ppt/tableStyles.xml" Id="R1c387eb13661414b" /><Relationship Type="http://schemas.openxmlformats.org/officeDocument/2006/relationships/slide" Target="/ppt/slides/slide1.xml" Id="Rffeba4bb6d80458f" /><Relationship Type="http://schemas.openxmlformats.org/officeDocument/2006/relationships/slide" Target="/ppt/slides/slide2.xml" Id="R65066902b37b460d" /><Relationship Type="http://schemas.openxmlformats.org/officeDocument/2006/relationships/slide" Target="/ppt/slides/slide3.xml" Id="Re54166e435d54d20" /><Relationship Type="http://schemas.openxmlformats.org/officeDocument/2006/relationships/slide" Target="/ppt/slides/slide4.xml" Id="R0c13410ded914b28" /><Relationship Type="http://schemas.openxmlformats.org/officeDocument/2006/relationships/slide" Target="/ppt/slides/slide5.xml" Id="R8a5659bc24e246ef" /><Relationship Type="http://schemas.openxmlformats.org/officeDocument/2006/relationships/slide" Target="/ppt/slides/slide6.xml" Id="R00da3f3de5f94f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ad55b22e9541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ff08c0a9764ef8" /><Relationship Type="http://schemas.openxmlformats.org/officeDocument/2006/relationships/notesMaster" Target="/ppt/notesMasters/notesMaster1.xml" Id="R2c9031c49b1e49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c8062ee4984de9" /><Relationship Type="http://schemas.openxmlformats.org/officeDocument/2006/relationships/notesMaster" Target="/ppt/notesMasters/notesMaster1.xml" Id="Rd70ecea9e2ad4a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be518e17ea49fc" /><Relationship Type="http://schemas.openxmlformats.org/officeDocument/2006/relationships/notesMaster" Target="/ppt/notesMasters/notesMaster1.xml" Id="Rffc34b3813c74a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8bfc2bc5a847d4" /><Relationship Type="http://schemas.openxmlformats.org/officeDocument/2006/relationships/notesMaster" Target="/ppt/notesMasters/notesMaster1.xml" Id="Ra71c6776ff5449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53eb12fc27415b" /><Relationship Type="http://schemas.openxmlformats.org/officeDocument/2006/relationships/notesMaster" Target="/ppt/notesMasters/notesMaster1.xml" Id="Rf3caece178a346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b38dafa0eb492d" /><Relationship Type="http://schemas.openxmlformats.org/officeDocument/2006/relationships/notesMaster" Target="/ppt/notesMasters/notesMaster1.xml" Id="Rd69acbb339c542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4203332dc46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2898f16bd4443f" /><Relationship Type="http://schemas.openxmlformats.org/officeDocument/2006/relationships/slideLayout" Target="/ppt/slideLayouts/slideLayout1.xml" Id="R05badb91a14c4c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badb91a14c4c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d746bf3e04955" /><Relationship Type="http://schemas.openxmlformats.org/officeDocument/2006/relationships/notesSlide" Target="/ppt/notesSlides/notesSlide1.xml" Id="Rbccbe83d6226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3704a7aa34a15" /><Relationship Type="http://schemas.openxmlformats.org/officeDocument/2006/relationships/notesSlide" Target="/ppt/notesSlides/notesSlide2.xml" Id="Ra2b346ef6d754c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eeca216e14cc6" /><Relationship Type="http://schemas.openxmlformats.org/officeDocument/2006/relationships/notesSlide" Target="/ppt/notesSlides/notesSlide3.xml" Id="R353870f78df54b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d4479ade84d83" /><Relationship Type="http://schemas.openxmlformats.org/officeDocument/2006/relationships/notesSlide" Target="/ppt/notesSlides/notesSlide4.xml" Id="Rd13968c471764f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684fa6b3647a8" /><Relationship Type="http://schemas.openxmlformats.org/officeDocument/2006/relationships/notesSlide" Target="/ppt/notesSlides/notesSlide5.xml" Id="R36c4aca0d12944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958c2979548e2" /><Relationship Type="http://schemas.openxmlformats.org/officeDocument/2006/relationships/notesSlide" Target="/ppt/notesSlides/notesSlide6.xml" Id="Ref3c040b7ea44c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_1">
            <a:extLst xmlns:a="http://schemas.openxmlformats.org/drawingml/2006/main">
              <a:ext uri="{FF2B5EF4-FFF2-40B4-BE49-F238E27FC236}">
                <a16:creationId xmlns:a16="http://schemas.microsoft.com/office/drawing/2014/main" id="{8B596859-4EB5-43BA-8C47-7A5C2710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VOORSTEL BIJ OFFERTE</a:t>
            </a:r>
          </a:p>
        </p:txBody>
      </p:sp>
      <p:sp>
        <p:nvSpPr>
          <p:cNvPr id="2" name="PAGE_1">
            <a:extLst xmlns:a="http://schemas.openxmlformats.org/drawingml/2006/main">
              <a:ext uri="{FF2B5EF4-FFF2-40B4-BE49-F238E27FC236}">
                <a16:creationId xmlns:a16="http://schemas.microsoft.com/office/drawing/2014/main" id="{AEEB55FF-A062-4E8E-BE42-C5AAC1A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COVER_TITLE">
            <a:extLst xmlns:a="http://schemas.openxmlformats.org/drawingml/2006/main">
              <a:ext uri="{FF2B5EF4-FFF2-40B4-BE49-F238E27FC236}">
                <a16:creationId xmlns:a16="http://schemas.microsoft.com/office/drawing/2014/main" id="{853085C9-2147-4CAF-8ED9-2DD8A2D1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4667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03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{{PRODUCT_NAME}}</a:t>
            </a:r>
          </a:p>
          <a:p xmlns:a="http://schemas.openxmlformats.org/drawingml/2006/main">
            <a:pPr algn="l">
              <a:defRPr sz="39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helder in beeld</a:t>
            </a:r>
          </a:p>
        </p:txBody>
      </p:sp>
      <p:sp>
        <p:nvSpPr>
          <p:cNvPr id="4" name="COVER_SUBTITLE">
            <a:extLst xmlns:a="http://schemas.openxmlformats.org/drawingml/2006/main">
              <a:ext uri="{FF2B5EF4-FFF2-40B4-BE49-F238E27FC236}">
                <a16:creationId xmlns:a16="http://schemas.microsoft.com/office/drawing/2014/main" id="{AADB09EF-7083-449B-B6E2-CC91F7E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Een visueel overzicht van uitvoering, materiaal en hoofdafmetingen.</a:t>
            </a:r>
          </a:p>
        </p:txBody>
      </p:sp>
      <p:sp>
        <p:nvSpPr>
          <p:cNvPr id="5" name="COVER_WIDTH_CARD">
            <a:extLst xmlns:a="http://schemas.openxmlformats.org/drawingml/2006/main">
              <a:ext uri="{FF2B5EF4-FFF2-40B4-BE49-F238E27FC236}">
                <a16:creationId xmlns:a16="http://schemas.microsoft.com/office/drawing/2014/main" id="{717EC1B0-AA78-4702-84EE-2EA0BC76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6" name="COVER_WIDTH_LABEL">
            <a:extLst xmlns:a="http://schemas.openxmlformats.org/drawingml/2006/main">
              <a:ext uri="{FF2B5EF4-FFF2-40B4-BE49-F238E27FC236}">
                <a16:creationId xmlns:a16="http://schemas.microsoft.com/office/drawing/2014/main" id="{7B2D2824-A5DC-4B04-9D34-20953AF2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BREEDTE</a:t>
            </a:r>
          </a:p>
        </p:txBody>
      </p:sp>
      <p:sp>
        <p:nvSpPr>
          <p:cNvPr id="7" name="COVER_WIDTH_VALUE">
            <a:extLst xmlns:a="http://schemas.openxmlformats.org/drawingml/2006/main">
              <a:ext uri="{FF2B5EF4-FFF2-40B4-BE49-F238E27FC236}">
                <a16:creationId xmlns:a16="http://schemas.microsoft.com/office/drawing/2014/main" id="{67B94B24-520D-4558-BE0A-38F3F19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5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{{WIDTH_MM}} mm</a:t>
            </a:r>
          </a:p>
        </p:txBody>
      </p:sp>
      <p:sp>
        <p:nvSpPr>
          <p:cNvPr id="8" name="COVER_DEPTH_CARD">
            <a:extLst xmlns:a="http://schemas.openxmlformats.org/drawingml/2006/main">
              <a:ext uri="{FF2B5EF4-FFF2-40B4-BE49-F238E27FC236}">
                <a16:creationId xmlns:a16="http://schemas.microsoft.com/office/drawing/2014/main" id="{02433CE4-50BC-4C5F-AAB6-2549529C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909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9" name="COVER_DEPTH_LABEL">
            <a:extLst xmlns:a="http://schemas.openxmlformats.org/drawingml/2006/main">
              <a:ext uri="{FF2B5EF4-FFF2-40B4-BE49-F238E27FC236}">
                <a16:creationId xmlns:a16="http://schemas.microsoft.com/office/drawing/2014/main" id="{9BFDD047-3DCB-4AB7-B15B-0F73973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862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DIEPTE</a:t>
            </a:r>
          </a:p>
        </p:txBody>
      </p:sp>
      <p:sp>
        <p:nvSpPr>
          <p:cNvPr id="10" name="COVER_DEPTH_VALUE">
            <a:extLst xmlns:a="http://schemas.openxmlformats.org/drawingml/2006/main">
              <a:ext uri="{FF2B5EF4-FFF2-40B4-BE49-F238E27FC236}">
                <a16:creationId xmlns:a16="http://schemas.microsoft.com/office/drawing/2014/main" id="{60DE3EE2-7A4B-406C-AD46-08F319A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67175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{{DEPTH_MM}} mm</a:t>
            </a:r>
          </a:p>
        </p:txBody>
      </p:sp>
      <p:sp>
        <p:nvSpPr>
          <p:cNvPr id="11" name="COVER_HEIGHT_CARD">
            <a:extLst xmlns:a="http://schemas.openxmlformats.org/drawingml/2006/main">
              <a:ext uri="{FF2B5EF4-FFF2-40B4-BE49-F238E27FC236}">
                <a16:creationId xmlns:a16="http://schemas.microsoft.com/office/drawing/2014/main" id="{3A7C2825-2F1E-4651-8538-77AD2434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9095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2" name="COVER_HEIGHT_LABEL">
            <a:extLst xmlns:a="http://schemas.openxmlformats.org/drawingml/2006/main">
              <a:ext uri="{FF2B5EF4-FFF2-40B4-BE49-F238E27FC236}">
                <a16:creationId xmlns:a16="http://schemas.microsoft.com/office/drawing/2014/main" id="{D6B9459E-D244-44A7-92C1-B3C6A578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862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HOOGTE</a:t>
            </a:r>
          </a:p>
        </p:txBody>
      </p:sp>
      <p:sp>
        <p:nvSpPr>
          <p:cNvPr id="13" name="COVER_HEIGHT_VALUE">
            <a:extLst xmlns:a="http://schemas.openxmlformats.org/drawingml/2006/main">
              <a:ext uri="{FF2B5EF4-FFF2-40B4-BE49-F238E27FC236}">
                <a16:creationId xmlns:a16="http://schemas.microsoft.com/office/drawing/2014/main" id="{BEBBEDEC-9998-45DD-9FC2-69DCB86F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67175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52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{{HEIGHT_MM}} mm</a:t>
            </a:r>
          </a:p>
        </p:txBody>
      </p:sp>
      <p:sp>
        <p:nvSpPr>
          <p:cNvPr id="14" name="COVER_MATERIAL">
            <a:extLst xmlns:a="http://schemas.openxmlformats.org/drawingml/2006/main">
              <a:ext uri="{FF2B5EF4-FFF2-40B4-BE49-F238E27FC236}">
                <a16:creationId xmlns:a16="http://schemas.microsoft.com/office/drawing/2014/main" id="{8F2E904C-D5A7-4D31-869B-B18C85B1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{{MATERIAL_SUMMARY}}</a:t>
            </a:r>
          </a:p>
        </p:txBody>
      </p:sp>
      <p:sp>
        <p:nvSpPr>
          <p:cNvPr id="15" name="COVER_CUSTOMER">
            <a:extLst xmlns:a="http://schemas.openxmlformats.org/drawingml/2006/main">
              <a:ext uri="{FF2B5EF4-FFF2-40B4-BE49-F238E27FC236}">
                <a16:creationId xmlns:a16="http://schemas.microsoft.com/office/drawing/2014/main" id="{0F6BC87D-6517-4974-AE12-820117AC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Voor {{CUSTOMER_NAME}}</a:t>
            </a:r>
          </a:p>
        </p:txBody>
      </p:sp>
      <p:sp>
        <p:nvSpPr>
          <p:cNvPr id="16" name="MODEL_COVER_BACKING">
            <a:extLst xmlns:a="http://schemas.openxmlformats.org/drawingml/2006/main">
              <a:ext uri="{FF2B5EF4-FFF2-40B4-BE49-F238E27FC236}">
                <a16:creationId xmlns:a16="http://schemas.microsoft.com/office/drawing/2014/main" id="{2B40FB61-4BA8-46E5-B6FC-7653B61D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19150"/>
            <a:ext cx="6038850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7" name="MODEL_COVER">
            <a:extLst xmlns:a="http://schemas.openxmlformats.org/drawingml/2006/main">
              <a:ext uri="{FF2B5EF4-FFF2-40B4-BE49-F238E27FC236}">
                <a16:creationId xmlns:a16="http://schemas.microsoft.com/office/drawing/2014/main" id="{5CE44A8C-346B-491B-8582-7AD463F8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19150"/>
            <a:ext cx="6038850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E8ECED"/>
          </a:solidFill>
          <a:ln xmlns:a="http://schemas.openxmlformats.org/drawingml/2006/main" w="9525">
            <a:solidFill>
              <a:srgbClr val="C9D0D2"/>
            </a:solidFill>
            <a:prstDash val="solid"/>
          </a:ln>
        </p:spPr>
      </p:sp>
      <p:sp>
        <p:nvSpPr>
          <p:cNvPr id="18" name="MODEL_COVER_LABEL">
            <a:extLst xmlns:a="http://schemas.openxmlformats.org/drawingml/2006/main">
              <a:ext uri="{FF2B5EF4-FFF2-40B4-BE49-F238E27FC236}">
                <a16:creationId xmlns:a16="http://schemas.microsoft.com/office/drawing/2014/main" id="{45B8DCBB-C348-410E-9ED3-9D577EF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57550"/>
            <a:ext cx="550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3D-model wordt automatisch geplaatst</a:t>
            </a:r>
          </a:p>
        </p:txBody>
      </p:sp>
    </p:spTree>
    <p:extLst>
      <p:ext uri="{BB962C8B-B14F-4D97-AF65-F5344CB8AC3E}">
        <p14:creationId xmlns:p14="http://schemas.microsoft.com/office/powerpoint/2010/main" val="1712959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_2">
            <a:extLst xmlns:a="http://schemas.openxmlformats.org/drawingml/2006/main">
              <a:ext uri="{FF2B5EF4-FFF2-40B4-BE49-F238E27FC236}">
                <a16:creationId xmlns:a16="http://schemas.microsoft.com/office/drawing/2014/main" id="{C2F3793D-ABE3-4D5C-89EE-8E701F7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INTERACTIEF 3D-MODEL</a:t>
            </a:r>
          </a:p>
        </p:txBody>
      </p:sp>
      <p:sp>
        <p:nvSpPr>
          <p:cNvPr id="2" name="PAGE_2">
            <a:extLst xmlns:a="http://schemas.openxmlformats.org/drawingml/2006/main">
              <a:ext uri="{FF2B5EF4-FFF2-40B4-BE49-F238E27FC236}">
                <a16:creationId xmlns:a16="http://schemas.microsoft.com/office/drawing/2014/main" id="{8CD4CB6A-91EE-4DC3-B2A7-1662A75E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ORBIT_TITLE">
            <a:extLst xmlns:a="http://schemas.openxmlformats.org/drawingml/2006/main">
              <a:ext uri="{FF2B5EF4-FFF2-40B4-BE49-F238E27FC236}">
                <a16:creationId xmlns:a16="http://schemas.microsoft.com/office/drawing/2014/main" id="{181AB6F9-3215-420E-81E9-A7AD3155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Draai het model en bekijk ieder detail</a:t>
            </a:r>
          </a:p>
        </p:txBody>
      </p:sp>
      <p:sp>
        <p:nvSpPr>
          <p:cNvPr id="4" name="ORBIT_SUBTITLE">
            <a:extLst xmlns:a="http://schemas.openxmlformats.org/drawingml/2006/main">
              <a:ext uri="{FF2B5EF4-FFF2-40B4-BE49-F238E27FC236}">
                <a16:creationId xmlns:a16="http://schemas.microsoft.com/office/drawing/2014/main" id="{07C6786C-3607-4AE6-9042-99EE0037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Klik op het model en sleep om te roteren. Gebruik de 3D-modelweergaven van PowerPoint voor vaste camerastanden.</a:t>
            </a:r>
          </a:p>
        </p:txBody>
      </p:sp>
      <p:sp>
        <p:nvSpPr>
          <p:cNvPr id="5" name="MODEL_ORBIT_BACKING">
            <a:extLst xmlns:a="http://schemas.openxmlformats.org/drawingml/2006/main">
              <a:ext uri="{FF2B5EF4-FFF2-40B4-BE49-F238E27FC236}">
                <a16:creationId xmlns:a16="http://schemas.microsoft.com/office/drawing/2014/main" id="{1E9A3742-D69B-42EF-A4F9-C891A951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6" name="MODEL_ORBIT">
            <a:extLst xmlns:a="http://schemas.openxmlformats.org/drawingml/2006/main">
              <a:ext uri="{FF2B5EF4-FFF2-40B4-BE49-F238E27FC236}">
                <a16:creationId xmlns:a16="http://schemas.microsoft.com/office/drawing/2014/main" id="{B870A4C4-2A67-4D35-8324-0E87068E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8ECED"/>
          </a:solidFill>
          <a:ln xmlns:a="http://schemas.openxmlformats.org/drawingml/2006/main" w="9525">
            <a:solidFill>
              <a:srgbClr val="C9D0D2"/>
            </a:solidFill>
            <a:prstDash val="solid"/>
          </a:ln>
        </p:spPr>
      </p:sp>
      <p:sp>
        <p:nvSpPr>
          <p:cNvPr id="7" name="MODEL_ORBIT_LABEL">
            <a:extLst xmlns:a="http://schemas.openxmlformats.org/drawingml/2006/main">
              <a:ext uri="{FF2B5EF4-FFF2-40B4-BE49-F238E27FC236}">
                <a16:creationId xmlns:a16="http://schemas.microsoft.com/office/drawing/2014/main" id="{1CC6116B-3EC8-46C3-ADB5-5E0955FB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Interactief orbit-model</a:t>
            </a:r>
          </a:p>
        </p:txBody>
      </p:sp>
      <p:sp>
        <p:nvSpPr>
          <p:cNvPr id="8" name="ORBIT_HINT_BAR">
            <a:extLst xmlns:a="http://schemas.openxmlformats.org/drawingml/2006/main">
              <a:ext uri="{FF2B5EF4-FFF2-40B4-BE49-F238E27FC236}">
                <a16:creationId xmlns:a16="http://schemas.microsoft.com/office/drawing/2014/main" id="{0C065466-3DA7-4F5E-8205-C4AF6AB9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1125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3036"/>
          </a:solidFill>
          <a:ln xmlns:a="http://schemas.openxmlformats.org/drawingml/2006/main" w="0">
            <a:solidFill>
              <a:srgbClr val="253036"/>
            </a:solidFill>
            <a:prstDash val="solid"/>
          </a:ln>
        </p:spPr>
      </p:sp>
      <p:sp>
        <p:nvSpPr>
          <p:cNvPr id="9" name="ORBIT_HINT">
            <a:extLst xmlns:a="http://schemas.openxmlformats.org/drawingml/2006/main">
              <a:ext uri="{FF2B5EF4-FFF2-40B4-BE49-F238E27FC236}">
                <a16:creationId xmlns:a16="http://schemas.microsoft.com/office/drawing/2014/main" id="{2BD7EE0E-7095-472B-B0AF-AE9FC427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BEDIENING  •  klikken + slepen = draaien   •   3D-model &gt; Pannen en zoomen = uitsnede aanpassen</a:t>
            </a:r>
          </a:p>
        </p:txBody>
      </p:sp>
    </p:spTree>
    <p:extLst>
      <p:ext uri="{BB962C8B-B14F-4D97-AF65-F5344CB8AC3E}">
        <p14:creationId xmlns:p14="http://schemas.microsoft.com/office/powerpoint/2010/main" val="374482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_3">
            <a:extLst xmlns:a="http://schemas.openxmlformats.org/drawingml/2006/main">
              <a:ext uri="{FF2B5EF4-FFF2-40B4-BE49-F238E27FC236}">
                <a16:creationId xmlns:a16="http://schemas.microsoft.com/office/drawing/2014/main" id="{CD0E9F43-CD82-4D4D-AA5E-DBD4E4C2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CONTROLEERBARE AANZICHTEN</a:t>
            </a:r>
          </a:p>
        </p:txBody>
      </p:sp>
      <p:sp>
        <p:nvSpPr>
          <p:cNvPr id="2" name="PAGE_3">
            <a:extLst xmlns:a="http://schemas.openxmlformats.org/drawingml/2006/main">
              <a:ext uri="{FF2B5EF4-FFF2-40B4-BE49-F238E27FC236}">
                <a16:creationId xmlns:a16="http://schemas.microsoft.com/office/drawing/2014/main" id="{48F0778C-74A5-4BA8-8569-F8C65F8F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VIEWS_TITLE">
            <a:extLst xmlns:a="http://schemas.openxmlformats.org/drawingml/2006/main">
              <a:ext uri="{FF2B5EF4-FFF2-40B4-BE49-F238E27FC236}">
                <a16:creationId xmlns:a16="http://schemas.microsoft.com/office/drawing/2014/main" id="{16F93594-D4AA-4ED4-B082-6D62D4A4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Alle hoofdafmetingen in één oogopslag</a:t>
            </a:r>
          </a:p>
        </p:txBody>
      </p:sp>
      <p:sp>
        <p:nvSpPr>
          <p:cNvPr id="4" name="FRONT_CARD">
            <a:extLst xmlns:a="http://schemas.openxmlformats.org/drawingml/2006/main">
              <a:ext uri="{FF2B5EF4-FFF2-40B4-BE49-F238E27FC236}">
                <a16:creationId xmlns:a16="http://schemas.microsoft.com/office/drawing/2014/main" id="{9D09D4C9-C948-473F-9029-1A997F8B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5334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5" name="MODEL_FRONT_BACKING">
            <a:extLst xmlns:a="http://schemas.openxmlformats.org/drawingml/2006/main">
              <a:ext uri="{FF2B5EF4-FFF2-40B4-BE49-F238E27FC236}">
                <a16:creationId xmlns:a16="http://schemas.microsoft.com/office/drawing/2014/main" id="{8C6C3CA2-C818-4046-922C-B1F33D73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6" name="MODEL_FRONT">
            <a:extLst xmlns:a="http://schemas.openxmlformats.org/drawingml/2006/main">
              <a:ext uri="{FF2B5EF4-FFF2-40B4-BE49-F238E27FC236}">
                <a16:creationId xmlns:a16="http://schemas.microsoft.com/office/drawing/2014/main" id="{4EBDDB46-1D5B-40B4-B8DA-A03E7BFF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CED"/>
          </a:solidFill>
          <a:ln xmlns:a="http://schemas.openxmlformats.org/drawingml/2006/main" w="9525">
            <a:solidFill>
              <a:srgbClr val="C9D0D2"/>
            </a:solidFill>
            <a:prstDash val="solid"/>
          </a:ln>
        </p:spPr>
      </p:sp>
      <p:sp>
        <p:nvSpPr>
          <p:cNvPr id="7" name="MODEL_FRONT_LABEL">
            <a:extLst xmlns:a="http://schemas.openxmlformats.org/drawingml/2006/main">
              <a:ext uri="{FF2B5EF4-FFF2-40B4-BE49-F238E27FC236}">
                <a16:creationId xmlns:a16="http://schemas.microsoft.com/office/drawing/2014/main" id="{2ED70BDD-B366-4BB3-89E5-B743B61B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Vooraanzicht</a:t>
            </a:r>
          </a:p>
        </p:txBody>
      </p:sp>
      <p:sp>
        <p:nvSpPr>
          <p:cNvPr id="8" name="FRONT_TITLE">
            <a:extLst xmlns:a="http://schemas.openxmlformats.org/drawingml/2006/main">
              <a:ext uri="{FF2B5EF4-FFF2-40B4-BE49-F238E27FC236}">
                <a16:creationId xmlns:a16="http://schemas.microsoft.com/office/drawing/2014/main" id="{7B7A52DD-6DB4-45F1-9ED7-76A7033C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Vooraanzicht</a:t>
            </a:r>
          </a:p>
        </p:txBody>
      </p:sp>
      <p:sp>
        <p:nvSpPr>
          <p:cNvPr id="9" name="FRONT_DIMENSION">
            <a:extLst xmlns:a="http://schemas.openxmlformats.org/drawingml/2006/main">
              <a:ext uri="{FF2B5EF4-FFF2-40B4-BE49-F238E27FC236}">
                <a16:creationId xmlns:a16="http://schemas.microsoft.com/office/drawing/2014/main" id="{6CA314C4-973A-45DA-9E7E-59C9127F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{{WIDTH_MM}} × {{HEIGHT_MM}} mm</a:t>
            </a:r>
          </a:p>
        </p:txBody>
      </p:sp>
      <p:sp>
        <p:nvSpPr>
          <p:cNvPr id="10" name="SIDE_CARD">
            <a:extLst xmlns:a="http://schemas.openxmlformats.org/drawingml/2006/main">
              <a:ext uri="{FF2B5EF4-FFF2-40B4-BE49-F238E27FC236}">
                <a16:creationId xmlns:a16="http://schemas.microsoft.com/office/drawing/2014/main" id="{6A613D0A-4D78-4D03-87F3-C0FEE49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334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1" name="MODEL_SIDE_BACKING">
            <a:extLst xmlns:a="http://schemas.openxmlformats.org/drawingml/2006/main">
              <a:ext uri="{FF2B5EF4-FFF2-40B4-BE49-F238E27FC236}">
                <a16:creationId xmlns:a16="http://schemas.microsoft.com/office/drawing/2014/main" id="{B02309FE-8034-42A0-99DA-F64B13D8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0495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2" name="MODEL_SIDE">
            <a:extLst xmlns:a="http://schemas.openxmlformats.org/drawingml/2006/main">
              <a:ext uri="{FF2B5EF4-FFF2-40B4-BE49-F238E27FC236}">
                <a16:creationId xmlns:a16="http://schemas.microsoft.com/office/drawing/2014/main" id="{CBEC3105-9094-400A-88AE-B2533CD2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0495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CED"/>
          </a:solidFill>
          <a:ln xmlns:a="http://schemas.openxmlformats.org/drawingml/2006/main" w="9525">
            <a:solidFill>
              <a:srgbClr val="C9D0D2"/>
            </a:solidFill>
            <a:prstDash val="solid"/>
          </a:ln>
        </p:spPr>
      </p:sp>
      <p:sp>
        <p:nvSpPr>
          <p:cNvPr id="13" name="MODEL_SIDE_LABEL">
            <a:extLst xmlns:a="http://schemas.openxmlformats.org/drawingml/2006/main">
              <a:ext uri="{FF2B5EF4-FFF2-40B4-BE49-F238E27FC236}">
                <a16:creationId xmlns:a16="http://schemas.microsoft.com/office/drawing/2014/main" id="{71403BDF-0695-483C-ABE8-C414219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Zijaanzicht</a:t>
            </a:r>
          </a:p>
        </p:txBody>
      </p:sp>
      <p:sp>
        <p:nvSpPr>
          <p:cNvPr id="14" name="SIDE_TITLE">
            <a:extLst xmlns:a="http://schemas.openxmlformats.org/drawingml/2006/main">
              <a:ext uri="{FF2B5EF4-FFF2-40B4-BE49-F238E27FC236}">
                <a16:creationId xmlns:a16="http://schemas.microsoft.com/office/drawing/2014/main" id="{E35E51F5-7480-40F8-AAD1-F55D18FA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Zijaanzicht</a:t>
            </a:r>
          </a:p>
        </p:txBody>
      </p:sp>
      <p:sp>
        <p:nvSpPr>
          <p:cNvPr id="15" name="SIDE_DIMENSION">
            <a:extLst xmlns:a="http://schemas.openxmlformats.org/drawingml/2006/main">
              <a:ext uri="{FF2B5EF4-FFF2-40B4-BE49-F238E27FC236}">
                <a16:creationId xmlns:a16="http://schemas.microsoft.com/office/drawing/2014/main" id="{001DB010-51CF-4AFA-B6AE-C27A4B9F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{{DEPTH_MM}} × {{HEIGHT_MM}} mm</a:t>
            </a:r>
          </a:p>
        </p:txBody>
      </p:sp>
      <p:sp>
        <p:nvSpPr>
          <p:cNvPr id="16" name="TOP_CARD">
            <a:extLst xmlns:a="http://schemas.openxmlformats.org/drawingml/2006/main">
              <a:ext uri="{FF2B5EF4-FFF2-40B4-BE49-F238E27FC236}">
                <a16:creationId xmlns:a16="http://schemas.microsoft.com/office/drawing/2014/main" id="{44030AF1-DA05-4825-B671-01388C9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5334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7" name="MODEL_TOP_BACKING">
            <a:extLst xmlns:a="http://schemas.openxmlformats.org/drawingml/2006/main">
              <a:ext uri="{FF2B5EF4-FFF2-40B4-BE49-F238E27FC236}">
                <a16:creationId xmlns:a16="http://schemas.microsoft.com/office/drawing/2014/main" id="{D069CD78-FBC9-4754-BA07-27293E0E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8" name="MODEL_TOP">
            <a:extLst xmlns:a="http://schemas.openxmlformats.org/drawingml/2006/main">
              <a:ext uri="{FF2B5EF4-FFF2-40B4-BE49-F238E27FC236}">
                <a16:creationId xmlns:a16="http://schemas.microsoft.com/office/drawing/2014/main" id="{ED855113-4426-492D-B422-D38F5184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CED"/>
          </a:solidFill>
          <a:ln xmlns:a="http://schemas.openxmlformats.org/drawingml/2006/main" w="9525">
            <a:solidFill>
              <a:srgbClr val="C9D0D2"/>
            </a:solidFill>
            <a:prstDash val="solid"/>
          </a:ln>
        </p:spPr>
      </p:sp>
      <p:sp>
        <p:nvSpPr>
          <p:cNvPr id="19" name="MODEL_TOP_LABEL">
            <a:extLst xmlns:a="http://schemas.openxmlformats.org/drawingml/2006/main">
              <a:ext uri="{FF2B5EF4-FFF2-40B4-BE49-F238E27FC236}">
                <a16:creationId xmlns:a16="http://schemas.microsoft.com/office/drawing/2014/main" id="{C91EFA74-6CCA-4BF5-A0F4-C22E9DE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Bovenaanzicht</a:t>
            </a:r>
          </a:p>
        </p:txBody>
      </p:sp>
      <p:sp>
        <p:nvSpPr>
          <p:cNvPr id="20" name="TOP_TITLE">
            <a:extLst xmlns:a="http://schemas.openxmlformats.org/drawingml/2006/main">
              <a:ext uri="{FF2B5EF4-FFF2-40B4-BE49-F238E27FC236}">
                <a16:creationId xmlns:a16="http://schemas.microsoft.com/office/drawing/2014/main" id="{9085C202-F725-4B89-9D0D-A238C140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Bovenaanzicht</a:t>
            </a:r>
          </a:p>
        </p:txBody>
      </p:sp>
      <p:sp>
        <p:nvSpPr>
          <p:cNvPr id="21" name="TOP_DIMENSION">
            <a:extLst xmlns:a="http://schemas.openxmlformats.org/drawingml/2006/main">
              <a:ext uri="{FF2B5EF4-FFF2-40B4-BE49-F238E27FC236}">
                <a16:creationId xmlns:a16="http://schemas.microsoft.com/office/drawing/2014/main" id="{1820D830-B5E7-48AF-8518-9B54CE4A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{{WIDTH_MM}} × {{DEPTH_MM}} mm</a:t>
            </a:r>
          </a:p>
        </p:txBody>
      </p:sp>
      <p:sp>
        <p:nvSpPr>
          <p:cNvPr id="22" name="ISO_CARD">
            <a:extLst xmlns:a="http://schemas.openxmlformats.org/drawingml/2006/main">
              <a:ext uri="{FF2B5EF4-FFF2-40B4-BE49-F238E27FC236}">
                <a16:creationId xmlns:a16="http://schemas.microsoft.com/office/drawing/2014/main" id="{063E151A-6254-4293-AB90-02D166EF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5334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23" name="MODEL_ISO_BACKING">
            <a:extLst xmlns:a="http://schemas.openxmlformats.org/drawingml/2006/main">
              <a:ext uri="{FF2B5EF4-FFF2-40B4-BE49-F238E27FC236}">
                <a16:creationId xmlns:a16="http://schemas.microsoft.com/office/drawing/2014/main" id="{DD2FD342-7661-45B3-8B8D-466EF376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24" name="MODEL_ISO">
            <a:extLst xmlns:a="http://schemas.openxmlformats.org/drawingml/2006/main">
              <a:ext uri="{FF2B5EF4-FFF2-40B4-BE49-F238E27FC236}">
                <a16:creationId xmlns:a16="http://schemas.microsoft.com/office/drawing/2014/main" id="{9C42B668-F335-4FF6-8AF6-2FF97CA1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CED"/>
          </a:solidFill>
          <a:ln xmlns:a="http://schemas.openxmlformats.org/drawingml/2006/main" w="9525">
            <a:solidFill>
              <a:srgbClr val="C9D0D2"/>
            </a:solidFill>
            <a:prstDash val="solid"/>
          </a:ln>
        </p:spPr>
      </p:sp>
      <p:sp>
        <p:nvSpPr>
          <p:cNvPr id="25" name="MODEL_ISO_LABEL">
            <a:extLst xmlns:a="http://schemas.openxmlformats.org/drawingml/2006/main">
              <a:ext uri="{FF2B5EF4-FFF2-40B4-BE49-F238E27FC236}">
                <a16:creationId xmlns:a16="http://schemas.microsoft.com/office/drawing/2014/main" id="{9DE8C75E-E9F5-4D88-9DEC-B858E33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5292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Perspectief</a:t>
            </a:r>
          </a:p>
        </p:txBody>
      </p:sp>
      <p:sp>
        <p:nvSpPr>
          <p:cNvPr id="26" name="ISO_TITLE">
            <a:extLst xmlns:a="http://schemas.openxmlformats.org/drawingml/2006/main">
              <a:ext uri="{FF2B5EF4-FFF2-40B4-BE49-F238E27FC236}">
                <a16:creationId xmlns:a16="http://schemas.microsoft.com/office/drawing/2014/main" id="{01E0C9F4-A93F-4067-B3A8-F527DA39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Perspectief</a:t>
            </a:r>
          </a:p>
        </p:txBody>
      </p:sp>
      <p:sp>
        <p:nvSpPr>
          <p:cNvPr id="27" name="ISO_DIMENSION">
            <a:extLst xmlns:a="http://schemas.openxmlformats.org/drawingml/2006/main">
              <a:ext uri="{FF2B5EF4-FFF2-40B4-BE49-F238E27FC236}">
                <a16:creationId xmlns:a16="http://schemas.microsoft.com/office/drawing/2014/main" id="{80D1DB70-0D26-486E-94EA-4376BE8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draai- en zoomcontrole</a:t>
            </a:r>
          </a:p>
        </p:txBody>
      </p:sp>
      <p:sp>
        <p:nvSpPr>
          <p:cNvPr id="28" name="VIEWS_NOTE">
            <a:extLst xmlns:a="http://schemas.openxmlformats.org/drawingml/2006/main">
              <a:ext uri="{FF2B5EF4-FFF2-40B4-BE49-F238E27FC236}">
                <a16:creationId xmlns:a16="http://schemas.microsoft.com/office/drawing/2014/main" id="{816F09BE-22CC-446F-976B-93B716C2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Maatvoering is gebaseerd op de geconfigureerde buitenmaten. Controleer productspecifieke uitsparingen in het interactieve model.</a:t>
            </a:r>
          </a:p>
        </p:txBody>
      </p:sp>
    </p:spTree>
    <p:extLst>
      <p:ext uri="{BB962C8B-B14F-4D97-AF65-F5344CB8AC3E}">
        <p14:creationId xmlns:p14="http://schemas.microsoft.com/office/powerpoint/2010/main" val="2001264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BROW_4">
            <a:extLst xmlns:a="http://schemas.openxmlformats.org/drawingml/2006/main">
              <a:ext uri="{FF2B5EF4-FFF2-40B4-BE49-F238E27FC236}">
                <a16:creationId xmlns:a16="http://schemas.microsoft.com/office/drawing/2014/main" id="{E6EEDBAB-362D-4A00-BEA7-C5AFBF7D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UITVOERING EN UITGANGSPUNTEN</a:t>
            </a:r>
          </a:p>
        </p:txBody>
      </p:sp>
      <p:sp>
        <p:nvSpPr>
          <p:cNvPr id="2" name="PAGE_4">
            <a:extLst xmlns:a="http://schemas.openxmlformats.org/drawingml/2006/main">
              <a:ext uri="{FF2B5EF4-FFF2-40B4-BE49-F238E27FC236}">
                <a16:creationId xmlns:a16="http://schemas.microsoft.com/office/drawing/2014/main" id="{ABFFF3EA-2D64-47F5-8C33-90832CBB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SPEC_TITLE">
            <a:extLst xmlns:a="http://schemas.openxmlformats.org/drawingml/2006/main">
              <a:ext uri="{FF2B5EF4-FFF2-40B4-BE49-F238E27FC236}">
                <a16:creationId xmlns:a16="http://schemas.microsoft.com/office/drawing/2014/main" id="{E0D98E32-8869-4DD5-8D06-5111A55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Wat in dit voorstel is opgenomen</a:t>
            </a:r>
          </a:p>
        </p:txBody>
      </p:sp>
      <p:sp>
        <p:nvSpPr>
          <p:cNvPr id="4" name="SPEC_INTRO">
            <a:extLst xmlns:a="http://schemas.openxmlformats.org/drawingml/2006/main">
              <a:ext uri="{FF2B5EF4-FFF2-40B4-BE49-F238E27FC236}">
                <a16:creationId xmlns:a16="http://schemas.microsoft.com/office/drawing/2014/main" id="{7CAA8B80-CB16-4F17-B87D-6391224B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De presentatie volgt automatisch de gekozen configuratie. De technische productiebestanden blijven leidend voor fabricage.</a:t>
            </a:r>
          </a:p>
        </p:txBody>
      </p:sp>
      <p:sp>
        <p:nvSpPr>
          <p:cNvPr id="5" name="SPEC_SHEET_CARD">
            <a:extLst xmlns:a="http://schemas.openxmlformats.org/drawingml/2006/main">
              <a:ext uri="{FF2B5EF4-FFF2-40B4-BE49-F238E27FC236}">
                <a16:creationId xmlns:a16="http://schemas.microsoft.com/office/drawing/2014/main" id="{658C8B07-C755-4C87-9C24-391C339F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61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6" name="SPEC_SHEET_NUMBER">
            <a:extLst xmlns:a="http://schemas.openxmlformats.org/drawingml/2006/main">
              <a:ext uri="{FF2B5EF4-FFF2-40B4-BE49-F238E27FC236}">
                <a16:creationId xmlns:a16="http://schemas.microsoft.com/office/drawing/2014/main" id="{00D5092B-7B10-4E4C-BA20-2E2327C6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SPEC_SHEET_TITLE">
            <a:extLst xmlns:a="http://schemas.openxmlformats.org/drawingml/2006/main">
              <a:ext uri="{FF2B5EF4-FFF2-40B4-BE49-F238E27FC236}">
                <a16:creationId xmlns:a16="http://schemas.microsoft.com/office/drawing/2014/main" id="{0E93A4F0-7615-4B4D-B16D-584822A5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Plaatmateriaal</a:t>
            </a:r>
          </a:p>
        </p:txBody>
      </p:sp>
      <p:sp>
        <p:nvSpPr>
          <p:cNvPr id="8" name="SPEC_SHEET_BODY">
            <a:extLst xmlns:a="http://schemas.openxmlformats.org/drawingml/2006/main">
              <a:ext uri="{FF2B5EF4-FFF2-40B4-BE49-F238E27FC236}">
                <a16:creationId xmlns:a16="http://schemas.microsoft.com/office/drawing/2014/main" id="{D1B7CA48-A7F0-49C9-8BAA-6ADE14BE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{{SHEET_MATERIAL}} — zichtvlakken en kopse lagen worden herkenbaar weergegeven.</a:t>
            </a:r>
          </a:p>
        </p:txBody>
      </p:sp>
      <p:sp>
        <p:nvSpPr>
          <p:cNvPr id="9" name="SPEC_PROFILE_CARD">
            <a:extLst xmlns:a="http://schemas.openxmlformats.org/drawingml/2006/main">
              <a:ext uri="{FF2B5EF4-FFF2-40B4-BE49-F238E27FC236}">
                <a16:creationId xmlns:a16="http://schemas.microsoft.com/office/drawing/2014/main" id="{89633211-E41A-49C6-A7E8-BE99FEA2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561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0" name="SPEC_PROFILE_NUMBER">
            <a:extLst xmlns:a="http://schemas.openxmlformats.org/drawingml/2006/main">
              <a:ext uri="{FF2B5EF4-FFF2-40B4-BE49-F238E27FC236}">
                <a16:creationId xmlns:a16="http://schemas.microsoft.com/office/drawing/2014/main" id="{070AAC37-87A0-4F0B-BCE8-1D9EA94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PEC_PROFILE_TITLE">
            <a:extLst xmlns:a="http://schemas.openxmlformats.org/drawingml/2006/main">
              <a:ext uri="{FF2B5EF4-FFF2-40B4-BE49-F238E27FC236}">
                <a16:creationId xmlns:a16="http://schemas.microsoft.com/office/drawing/2014/main" id="{4220ED53-BA8A-4590-9F6F-AE79434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Profielsysteem</a:t>
            </a:r>
          </a:p>
        </p:txBody>
      </p:sp>
      <p:sp>
        <p:nvSpPr>
          <p:cNvPr id="12" name="SPEC_PROFILE_BODY">
            <a:extLst xmlns:a="http://schemas.openxmlformats.org/drawingml/2006/main">
              <a:ext uri="{FF2B5EF4-FFF2-40B4-BE49-F238E27FC236}">
                <a16:creationId xmlns:a16="http://schemas.microsoft.com/office/drawing/2014/main" id="{FC15E00B-8192-4B0B-9704-78B6A4A9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{{PROFILE_MATERIAL}} — matte, geanodiseerde aluminiumuitstraling met oppervlaksleuven.</a:t>
            </a:r>
          </a:p>
        </p:txBody>
      </p:sp>
      <p:sp>
        <p:nvSpPr>
          <p:cNvPr id="13" name="SPEC_SCOPE_CARD">
            <a:extLst xmlns:a="http://schemas.openxmlformats.org/drawingml/2006/main">
              <a:ext uri="{FF2B5EF4-FFF2-40B4-BE49-F238E27FC236}">
                <a16:creationId xmlns:a16="http://schemas.microsoft.com/office/drawing/2014/main" id="{76E7CA24-483C-4DC2-905F-AFCD83A6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1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4" name="SPEC_SCOPE_NUMBER">
            <a:extLst xmlns:a="http://schemas.openxmlformats.org/drawingml/2006/main">
              <a:ext uri="{FF2B5EF4-FFF2-40B4-BE49-F238E27FC236}">
                <a16:creationId xmlns:a16="http://schemas.microsoft.com/office/drawing/2014/main" id="{E9FF26AC-73B5-4FEC-BC26-23F03DCC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SPEC_SCOPE_TITLE">
            <a:extLst xmlns:a="http://schemas.openxmlformats.org/drawingml/2006/main">
              <a:ext uri="{FF2B5EF4-FFF2-40B4-BE49-F238E27FC236}">
                <a16:creationId xmlns:a16="http://schemas.microsoft.com/office/drawing/2014/main" id="{DD817873-0A47-40F4-8B71-3BEBC8BB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Leveringsomvang</a:t>
            </a:r>
          </a:p>
        </p:txBody>
      </p:sp>
      <p:sp>
        <p:nvSpPr>
          <p:cNvPr id="16" name="SPEC_SCOPE_BODY">
            <a:extLst xmlns:a="http://schemas.openxmlformats.org/drawingml/2006/main">
              <a:ext uri="{FF2B5EF4-FFF2-40B4-BE49-F238E27FC236}">
                <a16:creationId xmlns:a16="http://schemas.microsoft.com/office/drawing/2014/main" id="{4C84941B-32B4-4B0E-98DF-0820292D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{{CONFIGURATION_SUMMARY}}</a:t>
            </a:r>
          </a:p>
        </p:txBody>
      </p:sp>
      <p:sp>
        <p:nvSpPr>
          <p:cNvPr id="17" name="SPEC_APPROVAL_CARD">
            <a:extLst xmlns:a="http://schemas.openxmlformats.org/drawingml/2006/main">
              <a:ext uri="{FF2B5EF4-FFF2-40B4-BE49-F238E27FC236}">
                <a16:creationId xmlns:a16="http://schemas.microsoft.com/office/drawing/2014/main" id="{C9E84B6C-4FB8-4A98-BD60-B7B28C5D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561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18" name="SPEC_APPROVAL_NUMBER">
            <a:extLst xmlns:a="http://schemas.openxmlformats.org/drawingml/2006/main">
              <a:ext uri="{FF2B5EF4-FFF2-40B4-BE49-F238E27FC236}">
                <a16:creationId xmlns:a16="http://schemas.microsoft.com/office/drawing/2014/main" id="{BF295872-FC2C-431C-A32F-59E99E5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SPEC_APPROVAL_TITLE">
            <a:extLst xmlns:a="http://schemas.openxmlformats.org/drawingml/2006/main">
              <a:ext uri="{FF2B5EF4-FFF2-40B4-BE49-F238E27FC236}">
                <a16:creationId xmlns:a16="http://schemas.microsoft.com/office/drawing/2014/main" id="{2327A393-B963-4C41-94A2-C070E729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Controle voor akkoord</a:t>
            </a:r>
          </a:p>
        </p:txBody>
      </p:sp>
      <p:sp>
        <p:nvSpPr>
          <p:cNvPr id="20" name="SPEC_APPROVAL_BODY">
            <a:extLst xmlns:a="http://schemas.openxmlformats.org/drawingml/2006/main">
              <a:ext uri="{FF2B5EF4-FFF2-40B4-BE49-F238E27FC236}">
                <a16:creationId xmlns:a16="http://schemas.microsoft.com/office/drawing/2014/main" id="{1619C5EE-7632-4CE9-AD88-A8F3BCB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Bevestig maatvoering, materiaal en zichtbare opties voordat de opdracht wordt vrijgegeven.</a:t>
            </a:r>
          </a:p>
        </p:txBody>
      </p:sp>
      <p:sp>
        <p:nvSpPr>
          <p:cNvPr id="21" name="DIMENSION_PANEL">
            <a:extLst xmlns:a="http://schemas.openxmlformats.org/drawingml/2006/main">
              <a:ext uri="{FF2B5EF4-FFF2-40B4-BE49-F238E27FC236}">
                <a16:creationId xmlns:a16="http://schemas.microsoft.com/office/drawing/2014/main" id="{909C0984-9C30-4288-85CA-9CC7759E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5105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22" name="DIMENSION_PANEL_TITLE">
            <a:extLst xmlns:a="http://schemas.openxmlformats.org/drawingml/2006/main">
              <a:ext uri="{FF2B5EF4-FFF2-40B4-BE49-F238E27FC236}">
                <a16:creationId xmlns:a16="http://schemas.microsoft.com/office/drawing/2014/main" id="{8851B12B-F27A-44E1-A9FD-F96525C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Belangrijkste maten</a:t>
            </a:r>
          </a:p>
        </p:txBody>
      </p:sp>
      <p:sp>
        <p:nvSpPr>
          <p:cNvPr id="23" name="DIMENSION_LABEL_0">
            <a:extLst xmlns:a="http://schemas.openxmlformats.org/drawingml/2006/main">
              <a:ext uri="{FF2B5EF4-FFF2-40B4-BE49-F238E27FC236}">
                <a16:creationId xmlns:a16="http://schemas.microsoft.com/office/drawing/2014/main" id="{BA92A7F0-E1BA-43E8-B000-EC7671A1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28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Breedte</a:t>
            </a:r>
          </a:p>
        </p:txBody>
      </p:sp>
      <p:sp>
        <p:nvSpPr>
          <p:cNvPr id="24" name="DIMENSION_VALUE_0">
            <a:extLst xmlns:a="http://schemas.openxmlformats.org/drawingml/2006/main">
              <a:ext uri="{FF2B5EF4-FFF2-40B4-BE49-F238E27FC236}">
                <a16:creationId xmlns:a16="http://schemas.microsoft.com/office/drawing/2014/main" id="{5A935812-389C-420B-AE56-2D81AF05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28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{{WIDTH_MM}} mm</a:t>
            </a:r>
          </a:p>
        </p:txBody>
      </p:sp>
      <p:sp>
        <p:nvSpPr>
          <p:cNvPr id="25" name="DIMENSION_LINE_0">
            <a:extLst xmlns:a="http://schemas.openxmlformats.org/drawingml/2006/main">
              <a:ext uri="{FF2B5EF4-FFF2-40B4-BE49-F238E27FC236}">
                <a16:creationId xmlns:a16="http://schemas.microsoft.com/office/drawing/2014/main" id="{6C123971-5C80-4F28-AEA8-B8D5C039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99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IMENSION_LABEL_1">
            <a:extLst xmlns:a="http://schemas.openxmlformats.org/drawingml/2006/main">
              <a:ext uri="{FF2B5EF4-FFF2-40B4-BE49-F238E27FC236}">
                <a16:creationId xmlns:a16="http://schemas.microsoft.com/office/drawing/2014/main" id="{A7A5CDFA-0249-406B-9AD9-D7992C0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Diepte</a:t>
            </a:r>
          </a:p>
        </p:txBody>
      </p:sp>
      <p:sp>
        <p:nvSpPr>
          <p:cNvPr id="27" name="DIMENSION_VALUE_1">
            <a:extLst xmlns:a="http://schemas.openxmlformats.org/drawingml/2006/main">
              <a:ext uri="{FF2B5EF4-FFF2-40B4-BE49-F238E27FC236}">
                <a16:creationId xmlns:a16="http://schemas.microsoft.com/office/drawing/2014/main" id="{CDDF06E9-02DB-49F0-8EDF-5C7EF29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{{DEPTH_MM}} mm</a:t>
            </a:r>
          </a:p>
        </p:txBody>
      </p:sp>
      <p:sp>
        <p:nvSpPr>
          <p:cNvPr id="28" name="DIMENSION_LINE_1">
            <a:extLst xmlns:a="http://schemas.openxmlformats.org/drawingml/2006/main">
              <a:ext uri="{FF2B5EF4-FFF2-40B4-BE49-F238E27FC236}">
                <a16:creationId xmlns:a16="http://schemas.microsoft.com/office/drawing/2014/main" id="{F0F13D66-EF41-48CE-8CBF-297E4AD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IMENSION_LABEL_2">
            <a:extLst xmlns:a="http://schemas.openxmlformats.org/drawingml/2006/main">
              <a:ext uri="{FF2B5EF4-FFF2-40B4-BE49-F238E27FC236}">
                <a16:creationId xmlns:a16="http://schemas.microsoft.com/office/drawing/2014/main" id="{1D3BFF13-5BBD-4D9B-890E-9392309C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33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Hoogte</a:t>
            </a:r>
          </a:p>
        </p:txBody>
      </p:sp>
      <p:sp>
        <p:nvSpPr>
          <p:cNvPr id="30" name="DIMENSION_VALUE_2">
            <a:extLst xmlns:a="http://schemas.openxmlformats.org/drawingml/2006/main">
              <a:ext uri="{FF2B5EF4-FFF2-40B4-BE49-F238E27FC236}">
                <a16:creationId xmlns:a16="http://schemas.microsoft.com/office/drawing/2014/main" id="{4D93E78D-8DC3-457C-B7C4-8E98419D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{{HEIGHT_MM}} mm</a:t>
            </a:r>
          </a:p>
        </p:txBody>
      </p:sp>
      <p:sp>
        <p:nvSpPr>
          <p:cNvPr id="31" name="DIMENSION_LINE_2">
            <a:extLst xmlns:a="http://schemas.openxmlformats.org/drawingml/2006/main">
              <a:ext uri="{FF2B5EF4-FFF2-40B4-BE49-F238E27FC236}">
                <a16:creationId xmlns:a16="http://schemas.microsoft.com/office/drawing/2014/main" id="{EEC818EC-1963-4466-A4C6-6AA159A1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IMENSION_LABEL_3">
            <a:extLst xmlns:a="http://schemas.openxmlformats.org/drawingml/2006/main">
              <a:ext uri="{FF2B5EF4-FFF2-40B4-BE49-F238E27FC236}">
                <a16:creationId xmlns:a16="http://schemas.microsoft.com/office/drawing/2014/main" id="{515601D9-2547-4F79-8CB0-2C3C7B72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Aantal</a:t>
            </a:r>
          </a:p>
        </p:txBody>
      </p:sp>
      <p:sp>
        <p:nvSpPr>
          <p:cNvPr id="33" name="DIMENSION_VALUE_3">
            <a:extLst xmlns:a="http://schemas.openxmlformats.org/drawingml/2006/main">
              <a:ext uri="{FF2B5EF4-FFF2-40B4-BE49-F238E27FC236}">
                <a16:creationId xmlns:a16="http://schemas.microsoft.com/office/drawing/2014/main" id="{3F7B91EB-BF29-479B-8524-5D245E80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{{QUANTITY}}</a:t>
            </a:r>
          </a:p>
        </p:txBody>
      </p:sp>
      <p:sp>
        <p:nvSpPr>
          <p:cNvPr id="34" name="APPROVAL_BAR">
            <a:extLst xmlns:a="http://schemas.openxmlformats.org/drawingml/2006/main">
              <a:ext uri="{FF2B5EF4-FFF2-40B4-BE49-F238E27FC236}">
                <a16:creationId xmlns:a16="http://schemas.microsoft.com/office/drawing/2014/main" id="{6B62D5F7-D7B1-4963-BE39-4C69FBE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67350"/>
            <a:ext cx="5105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E6D2"/>
          </a:solidFill>
          <a:ln xmlns:a="http://schemas.openxmlformats.org/drawingml/2006/main" w="9525">
            <a:solidFill>
              <a:srgbClr val="D9B37C"/>
            </a:solidFill>
            <a:prstDash val="solid"/>
          </a:ln>
        </p:spPr>
      </p:sp>
      <p:sp>
        <p:nvSpPr>
          <p:cNvPr id="35" name="APPROVAL_TEXT">
            <a:extLst xmlns:a="http://schemas.openxmlformats.org/drawingml/2006/main">
              <a:ext uri="{FF2B5EF4-FFF2-40B4-BE49-F238E27FC236}">
                <a16:creationId xmlns:a16="http://schemas.microsoft.com/office/drawing/2014/main" id="{63C8A804-7FB5-4EEF-90E1-381C5649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67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Klaar voor beoordeling bij de offerte</a:t>
            </a:r>
          </a:p>
        </p:txBody>
      </p:sp>
    </p:spTree>
    <p:extLst>
      <p:ext uri="{BB962C8B-B14F-4D97-AF65-F5344CB8AC3E}">
        <p14:creationId xmlns:p14="http://schemas.microsoft.com/office/powerpoint/2010/main" val="862952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_5">
            <a:extLst xmlns:a="http://schemas.openxmlformats.org/drawingml/2006/main">
              <a:ext uri="{FF2B5EF4-FFF2-40B4-BE49-F238E27FC236}">
                <a16:creationId xmlns:a16="http://schemas.microsoft.com/office/drawing/2014/main" id="{055B4A0C-9542-4462-850C-96773708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SOLIDWORKS-WERKTEKENING</a:t>
            </a:r>
          </a:p>
        </p:txBody>
      </p:sp>
      <p:sp>
        <p:nvSpPr>
          <p:cNvPr id="2" name="PAGE_5">
            <a:extLst xmlns:a="http://schemas.openxmlformats.org/drawingml/2006/main">
              <a:ext uri="{FF2B5EF4-FFF2-40B4-BE49-F238E27FC236}">
                <a16:creationId xmlns:a16="http://schemas.microsoft.com/office/drawing/2014/main" id="{63D5F060-2975-4C4F-BFD1-6C5EA045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DRAWING_TITLE_5">
            <a:extLst xmlns:a="http://schemas.openxmlformats.org/drawingml/2006/main">
              <a:ext uri="{FF2B5EF4-FFF2-40B4-BE49-F238E27FC236}">
                <a16:creationId xmlns:a16="http://schemas.microsoft.com/office/drawing/2014/main" id="{AED0406E-AB17-44B4-9764-A3995C2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De samenstelling is direct controleerbaar op maat</a:t>
            </a:r>
          </a:p>
        </p:txBody>
      </p:sp>
      <p:sp>
        <p:nvSpPr>
          <p:cNvPr id="4" name="DRAWING_INTRO_5">
            <a:extLst xmlns:a="http://schemas.openxmlformats.org/drawingml/2006/main">
              <a:ext uri="{FF2B5EF4-FFF2-40B4-BE49-F238E27FC236}">
                <a16:creationId xmlns:a16="http://schemas.microsoft.com/office/drawing/2014/main" id="{A51AC15C-8068-4CEB-AF51-B648879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Vier vaste aanzichten met rustige hoofdmaatvoering, rechtstreeks opgebouwd vanuit hetzelfde SOLIDWORKS-controlemodel.</a:t>
            </a:r>
          </a:p>
        </p:txBody>
      </p:sp>
      <p:sp>
        <p:nvSpPr>
          <p:cNvPr id="5" name="DRAWING_GENERAL_BACKING">
            <a:extLst xmlns:a="http://schemas.openxmlformats.org/drawingml/2006/main">
              <a:ext uri="{FF2B5EF4-FFF2-40B4-BE49-F238E27FC236}">
                <a16:creationId xmlns:a16="http://schemas.microsoft.com/office/drawing/2014/main" id="{38A9A025-D614-455F-AC84-E410353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6" name="DRAWING_GENERAL">
            <a:extLst xmlns:a="http://schemas.openxmlformats.org/drawingml/2006/main">
              <a:ext uri="{FF2B5EF4-FFF2-40B4-BE49-F238E27FC236}">
                <a16:creationId xmlns:a16="http://schemas.microsoft.com/office/drawing/2014/main" id="{A2E098A6-7231-42FA-AC82-801DEC32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E8ECED"/>
          </a:solidFill>
          <a:ln xmlns:a="http://schemas.openxmlformats.org/drawingml/2006/main" w="9525">
            <a:solidFill>
              <a:srgbClr val="C9D0D2"/>
            </a:solidFill>
            <a:prstDash val="solid"/>
          </a:ln>
        </p:spPr>
      </p:sp>
      <p:sp>
        <p:nvSpPr>
          <p:cNvPr id="7" name="DRAWING_GENERAL_LABEL">
            <a:extLst xmlns:a="http://schemas.openxmlformats.org/drawingml/2006/main">
              <a:ext uri="{FF2B5EF4-FFF2-40B4-BE49-F238E27FC236}">
                <a16:creationId xmlns:a16="http://schemas.microsoft.com/office/drawing/2014/main" id="{B5DC8FEB-90BC-4A70-BD34-96AC1FAE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SOLIDWORKS-tekenblad wordt automatisch geplaatst</a:t>
            </a:r>
          </a:p>
        </p:txBody>
      </p:sp>
      <p:sp>
        <p:nvSpPr>
          <p:cNvPr id="8" name="DRAWING_NOTE_5">
            <a:extLst xmlns:a="http://schemas.openxmlformats.org/drawingml/2006/main">
              <a:ext uri="{FF2B5EF4-FFF2-40B4-BE49-F238E27FC236}">
                <a16:creationId xmlns:a16="http://schemas.microsoft.com/office/drawing/2014/main" id="{EE955DCD-B6BA-49B8-A9A5-C2E4E9AB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De meegeleverde PDF en SLDDRW blijven leidend voor nauwkeurige beoordeling en verdere technische uitwerking.</a:t>
            </a:r>
          </a:p>
        </p:txBody>
      </p:sp>
    </p:spTree>
    <p:extLst>
      <p:ext uri="{BB962C8B-B14F-4D97-AF65-F5344CB8AC3E}">
        <p14:creationId xmlns:p14="http://schemas.microsoft.com/office/powerpoint/2010/main" val="441607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_6">
            <a:extLst xmlns:a="http://schemas.openxmlformats.org/drawingml/2006/main">
              <a:ext uri="{FF2B5EF4-FFF2-40B4-BE49-F238E27FC236}">
                <a16:creationId xmlns:a16="http://schemas.microsoft.com/office/drawing/2014/main" id="{093A8A79-2EEC-4685-BD52-0A42333B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8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7838"/>
                </a:solidFill>
                <a:latin typeface="Aptos"/>
                <a:ea typeface="Aptos"/>
                <a:cs typeface="Aptos"/>
              </a:rPr>
              <a:t>WERKBLAD EN KRITIEKE MATEN</a:t>
            </a:r>
          </a:p>
        </p:txBody>
      </p:sp>
      <p:sp>
        <p:nvSpPr>
          <p:cNvPr id="2" name="PAGE_6">
            <a:extLst xmlns:a="http://schemas.openxmlformats.org/drawingml/2006/main">
              <a:ext uri="{FF2B5EF4-FFF2-40B4-BE49-F238E27FC236}">
                <a16:creationId xmlns:a16="http://schemas.microsoft.com/office/drawing/2014/main" id="{8D20B34B-9C57-4DAE-99DB-EEA062EE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DRAWING_TITLE_6">
            <a:extLst xmlns:a="http://schemas.openxmlformats.org/drawingml/2006/main">
              <a:ext uri="{FF2B5EF4-FFF2-40B4-BE49-F238E27FC236}">
                <a16:creationId xmlns:a16="http://schemas.microsoft.com/office/drawing/2014/main" id="{3F2D1288-13B7-49D4-AC28-1B1989EF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Het bovenaanzicht maakt de uitvoering goed bespreekbaar</a:t>
            </a:r>
          </a:p>
        </p:txBody>
      </p:sp>
      <p:sp>
        <p:nvSpPr>
          <p:cNvPr id="4" name="DRAWING_INTRO_6">
            <a:extLst xmlns:a="http://schemas.openxmlformats.org/drawingml/2006/main">
              <a:ext uri="{FF2B5EF4-FFF2-40B4-BE49-F238E27FC236}">
                <a16:creationId xmlns:a16="http://schemas.microsoft.com/office/drawing/2014/main" id="{4C470BE2-BE1C-4806-8DF4-D51E096C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Gaten, uitsparingen en de buitenmaat van het werkblad zijn zichtbaar zonder dat de offertepagina technisch te druk wordt.</a:t>
            </a:r>
          </a:p>
        </p:txBody>
      </p:sp>
      <p:sp>
        <p:nvSpPr>
          <p:cNvPr id="5" name="DRAWING_WORKTOP_BACKING">
            <a:extLst xmlns:a="http://schemas.openxmlformats.org/drawingml/2006/main">
              <a:ext uri="{FF2B5EF4-FFF2-40B4-BE49-F238E27FC236}">
                <a16:creationId xmlns:a16="http://schemas.microsoft.com/office/drawing/2014/main" id="{2102D5EA-77DC-44E9-8805-56CEC085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F"/>
            </a:solidFill>
            <a:prstDash val="solid"/>
          </a:ln>
        </p:spPr>
      </p:sp>
      <p:sp>
        <p:nvSpPr>
          <p:cNvPr id="6" name="DRAWING_WORKTOP">
            <a:extLst xmlns:a="http://schemas.openxmlformats.org/drawingml/2006/main">
              <a:ext uri="{FF2B5EF4-FFF2-40B4-BE49-F238E27FC236}">
                <a16:creationId xmlns:a16="http://schemas.microsoft.com/office/drawing/2014/main" id="{EC64C168-6570-4A8A-8090-7A7B3965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E8ECED"/>
          </a:solidFill>
          <a:ln xmlns:a="http://schemas.openxmlformats.org/drawingml/2006/main" w="9525">
            <a:solidFill>
              <a:srgbClr val="C9D0D2"/>
            </a:solidFill>
            <a:prstDash val="solid"/>
          </a:ln>
        </p:spPr>
      </p:sp>
      <p:sp>
        <p:nvSpPr>
          <p:cNvPr id="7" name="DRAWING_WORKTOP_LABEL">
            <a:extLst xmlns:a="http://schemas.openxmlformats.org/drawingml/2006/main">
              <a:ext uri="{FF2B5EF4-FFF2-40B4-BE49-F238E27FC236}">
                <a16:creationId xmlns:a16="http://schemas.microsoft.com/office/drawing/2014/main" id="{ACBBE77D-A579-4BFD-8201-166E3B40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F6B70"/>
                </a:solidFill>
                <a:latin typeface="Aptos"/>
                <a:ea typeface="Aptos"/>
                <a:cs typeface="Aptos"/>
              </a:rPr>
              <a:t>SOLIDWORKS-tekenblad wordt automatisch geplaatst</a:t>
            </a:r>
          </a:p>
        </p:txBody>
      </p:sp>
      <p:sp>
        <p:nvSpPr>
          <p:cNvPr id="8" name="DRAWING_NOTE_6">
            <a:extLst xmlns:a="http://schemas.openxmlformats.org/drawingml/2006/main">
              <a:ext uri="{FF2B5EF4-FFF2-40B4-BE49-F238E27FC236}">
                <a16:creationId xmlns:a16="http://schemas.microsoft.com/office/drawing/2014/main" id="{148D9E2F-F202-4F04-A666-26053919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0"/>
                </a:solidFill>
                <a:latin typeface="Aptos"/>
                <a:ea typeface="Aptos"/>
                <a:cs typeface="Aptos"/>
              </a:rPr>
              <a:t>De meegeleverde PDF en SLDDRW blijven leidend voor nauwkeurige beoordeling en verdere technische uitwerking.</a:t>
            </a:r>
          </a:p>
        </p:txBody>
      </p:sp>
    </p:spTree>
    <p:extLst>
      <p:ext uri="{BB962C8B-B14F-4D97-AF65-F5344CB8AC3E}">
        <p14:creationId xmlns:p14="http://schemas.microsoft.com/office/powerpoint/2010/main" val="861525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2026-08-16T11:51:38.1490000Z</dcterms:created>
  <dcterms:modified xsi:type="dcterms:W3CDTF">2026-08-16T11:51:38.1490000Z</dcterms:modified>
</coreProperties>
</file>